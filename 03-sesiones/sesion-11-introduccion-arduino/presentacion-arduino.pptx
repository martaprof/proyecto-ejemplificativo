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02556-9C16-06EB-8C59-A149D4076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BEAE11-3F7E-D9E1-7558-1AD288AA9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D6FC8-1447-CF44-49AC-1B7FE402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2CD37E-63E7-0A76-8663-5F6D139A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C731DB-0F59-C7C7-5056-490F0948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010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6F4CE-AAB7-2178-99A5-3C4A9EDD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D98D10-BFB0-724E-650F-8F735F18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E9C708-A90F-F892-A903-4128E6A2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C5A18-9C21-5BD1-712D-CE519ACB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873F3A-479C-6370-8B6F-269F6690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40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28742-01BA-E663-8BCE-BBBB7EBB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6B9F55-3E1B-5A4E-40B2-00F525364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990178-7C6F-3D22-40F0-6628778C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52975-97EA-94EF-0959-A82D9612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F61424-83BA-C6EA-1A05-E186A6BD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8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3EE66-E29A-6DF2-128C-C8D8897E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4D1B0-B10A-BF4A-5CD8-5B39EC4A8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DCF055-BAD1-4103-0314-5DC149723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4A672C-4E8D-E4FE-8831-45F73E92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131207-8353-6899-F08C-C8C49217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3B4FCC-7959-97F9-1326-98B95224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52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F9CFF-31EE-E357-7E3E-F1839AB2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53130-9129-F30B-A7AF-C2C4258D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586A12-AC74-759D-C681-755BC89E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7EDE03-C8BC-D54D-F8E3-FB7AD3F48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3F4350-BF39-AD0F-4A00-BE0FF1BBB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8C4B63-9DE7-3508-3C7E-447E72B4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976142-9E37-449E-81BF-81815A42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659739-E058-9F29-52A9-D8577AAC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54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553C3-7737-3DD5-8B6A-3F8E024F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CB50CC-6B55-FF73-AE17-E267DDD2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8C87EC-4D69-D113-A9FA-7D5C0A01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8C6975-2D77-85EF-723C-6D0D647F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737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1819C2-2E0C-0984-70EE-21DFABCB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F926DC-2DAB-0CA6-1907-299FF5AD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B1D5BF-31FC-18CD-6EB0-202611F0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71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7B933B-F7A2-B71D-F4CC-C5CDC974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3FD597-0C5A-7131-9F49-C06359CFD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A2733D-993C-3C05-D0D5-F006B8156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FDC8B9-827B-E97F-C3F3-A05F2024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9FB31-55E7-B983-EE33-240CF510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FABCBD-E2BE-7C85-5848-8E58C8D6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85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7E0DE-A4BB-57EC-0018-25489581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440953-1476-E509-7FDB-198B26D3BC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E60829-F6C9-6FDE-D85A-9B29C36B4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7A1FB5-F055-BF24-494C-07DE8B56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18370B-9E1F-67B5-6F63-94351613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E68C39-0194-5524-0801-5BCE5A2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9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F3422-B31F-993B-C829-FA3937CE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106FCF-CC76-613E-4CDE-CADDE08A0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AB051-79F1-2870-A4BF-7B107B0B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AA442-40F4-C7A1-1256-94182949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12D08-35B8-8D54-87EF-20597B56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14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DA537A-F485-BF11-524A-4FF80D885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584976-408E-3BCD-1EE8-FD9B50818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7FFBF1-9FDA-9D3C-7FE6-76D3E6E5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96967A-D97D-4617-0E90-D4B312E4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24959A-0214-71F3-4DE2-0B0C96FE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12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67D33B-5CCE-DE33-7F34-44A85967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178DC5-020E-3DAA-0AC6-05B8C9427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5E025-F192-117F-2AC7-27F228B1E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E36E-0A08-4506-82AC-EF52032F8754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741B7-9B2E-70E2-A12A-8BBBF237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E4CCAE-AF5A-BB53-A91F-9183ECEF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DA539-0DE4-4A9F-B218-7852B96702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9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64EF0FFB-00BF-814E-D417-5422F07E9B31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A66CBEF6-B8C8-2826-508C-51CD84E66EC7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9F9A85E7-36EE-300C-AA37-7D8899BFBA1C}"/>
              </a:ext>
            </a:extLst>
          </p:cNvPr>
          <p:cNvSpPr txBox="1"/>
          <p:nvPr/>
        </p:nvSpPr>
        <p:spPr>
          <a:xfrm>
            <a:off x="650000" y="1200000"/>
            <a:ext cx="6000000" cy="1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500" b="1" dirty="0">
                <a:solidFill>
                  <a:srgbClr val="102A43"/>
                </a:solidFill>
              </a:rPr>
              <a:t>Arduino: hardware y software</a:t>
            </a:r>
            <a:endParaRPr lang="es-ES" sz="3500" dirty="0"/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4B71B556-6C9D-FE0A-E6AD-455B7F45BB18}"/>
              </a:ext>
            </a:extLst>
          </p:cNvPr>
          <p:cNvSpPr txBox="1"/>
          <p:nvPr/>
        </p:nvSpPr>
        <p:spPr>
          <a:xfrm>
            <a:off x="680000" y="2600000"/>
            <a:ext cx="56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100">
                <a:solidFill>
                  <a:srgbClr val="334E68"/>
                </a:solidFill>
              </a:rPr>
              <a:t>Presentación breve para entender qué es Arduino antes de ejecutar el primer programa.</a:t>
            </a:r>
            <a:endParaRPr lang="es-ES" sz="21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DA69767-EE8A-A103-444D-68993F8D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000" y="1200000"/>
            <a:ext cx="4300000" cy="3000000"/>
          </a:xfrm>
          <a:prstGeom prst="rect">
            <a:avLst/>
          </a:prstGeom>
          <a:ln>
            <a:solidFill>
              <a:srgbClr val="D9E2EC"/>
            </a:solidFill>
          </a:ln>
        </p:spPr>
      </p:pic>
    </p:spTree>
    <p:extLst>
      <p:ext uri="{BB962C8B-B14F-4D97-AF65-F5344CB8AC3E}">
        <p14:creationId xmlns:p14="http://schemas.microsoft.com/office/powerpoint/2010/main" val="181032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3194-FB9F-70D6-17D8-965C3EC2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9327537E-A8F1-ED0C-F66F-484E4B0C0F3D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3CC968EB-9947-88CB-1E79-1A61F091D38D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B6A601D6-3F9D-B636-4889-A5943D7543BF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Titulo">
            <a:extLst>
              <a:ext uri="{FF2B5EF4-FFF2-40B4-BE49-F238E27FC236}">
                <a16:creationId xmlns:a16="http://schemas.microsoft.com/office/drawing/2014/main" id="{6CD8FB4D-8B45-A60D-007E-A6CFDFAA3A64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Arduino no es solo una placa</a:t>
            </a:r>
            <a:endParaRPr lang="es-ES" sz="2750" dirty="0"/>
          </a:p>
        </p:txBody>
      </p:sp>
      <p:sp>
        <p:nvSpPr>
          <p:cNvPr id="14" name="Cuerpo">
            <a:extLst>
              <a:ext uri="{FF2B5EF4-FFF2-40B4-BE49-F238E27FC236}">
                <a16:creationId xmlns:a16="http://schemas.microsoft.com/office/drawing/2014/main" id="{D00CEFF5-EB2A-620E-7E3F-FAF9AE716DC0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Arduino combina hardware y software.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Hardware: placa con microcontrolador y pines.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Software: entorno para escribir y cargar programas.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El programa convierte la placa en un controlador.</a:t>
            </a:r>
            <a:endParaRPr lang="es-ES" sz="1900" dirty="0"/>
          </a:p>
        </p:txBody>
      </p:sp>
      <p:pic>
        <p:nvPicPr>
          <p:cNvPr id="15" name="Imagen 8">
            <a:extLst>
              <a:ext uri="{FF2B5EF4-FFF2-40B4-BE49-F238E27FC236}">
                <a16:creationId xmlns:a16="http://schemas.microsoft.com/office/drawing/2014/main" id="{0F73278F-881B-5910-C20D-A844642C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93" y="3834427"/>
            <a:ext cx="2858812" cy="1994520"/>
          </a:xfrm>
          <a:prstGeom prst="rect">
            <a:avLst/>
          </a:prstGeom>
          <a:ln>
            <a:solidFill>
              <a:srgbClr val="D9E2EC"/>
            </a:solidFill>
          </a:ln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B54199E-59CC-9560-894A-563273D77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964" y="1897330"/>
            <a:ext cx="4273257" cy="361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C45C-1B52-44D9-E03B-4C91439B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EA9EC4F4-0DD4-23DE-F3EC-95A5D8607EF9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9BEFF9C2-3883-AAF9-FCB4-97B798ECD7DA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326192BB-B08F-A104-89EB-6F1C7DD55D61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CC4E32E4-C939-5451-91FE-C37C94151DB0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Partes visibles de la placa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4A80303E-823D-54FB-A533-1BCC65E19BB6}"/>
              </a:ext>
            </a:extLst>
          </p:cNvPr>
          <p:cNvSpPr txBox="1"/>
          <p:nvPr/>
        </p:nvSpPr>
        <p:spPr>
          <a:xfrm>
            <a:off x="900000" y="1650000"/>
            <a:ext cx="56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USB (1): alimentación y comunicación con el ordenador.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Microcontrolador (2): ejecuta el programa.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Pines digitales (3): pueden encender o apagar salidas.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Pines analógicos (4): leen tensiones variables de sensores.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5 V y GND (5): referencias eléctricas del circuito.</a:t>
            </a:r>
            <a:endParaRPr lang="es-ES" sz="1900" dirty="0"/>
          </a:p>
        </p:txBody>
      </p:sp>
      <p:pic>
        <p:nvPicPr>
          <p:cNvPr id="7" name="Imagen 8">
            <a:extLst>
              <a:ext uri="{FF2B5EF4-FFF2-40B4-BE49-F238E27FC236}">
                <a16:creationId xmlns:a16="http://schemas.microsoft.com/office/drawing/2014/main" id="{86A31A8E-9D55-CE9C-21EA-C9A71132E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503" y="1470000"/>
            <a:ext cx="4300000" cy="3000000"/>
          </a:xfrm>
          <a:prstGeom prst="rect">
            <a:avLst/>
          </a:prstGeom>
          <a:ln>
            <a:solidFill>
              <a:srgbClr val="D9E2EC"/>
            </a:solidFill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0C4E6C8-738C-42B9-5B47-78E665A7CFB2}"/>
              </a:ext>
            </a:extLst>
          </p:cNvPr>
          <p:cNvSpPr/>
          <p:nvPr/>
        </p:nvSpPr>
        <p:spPr>
          <a:xfrm>
            <a:off x="9809710" y="2453489"/>
            <a:ext cx="1416588" cy="3135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EC70C54-CFA3-EEDE-1B36-14CDB71C1556}"/>
              </a:ext>
            </a:extLst>
          </p:cNvPr>
          <p:cNvSpPr/>
          <p:nvPr/>
        </p:nvSpPr>
        <p:spPr>
          <a:xfrm>
            <a:off x="10592555" y="4065006"/>
            <a:ext cx="570368" cy="3135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7DC933-B9F1-82FE-B11C-AFC39C1FFDAC}"/>
              </a:ext>
            </a:extLst>
          </p:cNvPr>
          <p:cNvSpPr/>
          <p:nvPr/>
        </p:nvSpPr>
        <p:spPr>
          <a:xfrm>
            <a:off x="10131633" y="4065006"/>
            <a:ext cx="246333" cy="3135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erpo">
            <a:extLst>
              <a:ext uri="{FF2B5EF4-FFF2-40B4-BE49-F238E27FC236}">
                <a16:creationId xmlns:a16="http://schemas.microsoft.com/office/drawing/2014/main" id="{AB626A05-5930-8395-5E06-13BFCF71D32A}"/>
              </a:ext>
            </a:extLst>
          </p:cNvPr>
          <p:cNvSpPr txBox="1"/>
          <p:nvPr/>
        </p:nvSpPr>
        <p:spPr>
          <a:xfrm>
            <a:off x="8082579" y="2453489"/>
            <a:ext cx="1011628" cy="41360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9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8B2B772-07A5-BFB8-62A9-193095055D4D}"/>
              </a:ext>
            </a:extLst>
          </p:cNvPr>
          <p:cNvSpPr/>
          <p:nvPr/>
        </p:nvSpPr>
        <p:spPr>
          <a:xfrm>
            <a:off x="8545820" y="2795128"/>
            <a:ext cx="815463" cy="615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erpo">
            <a:extLst>
              <a:ext uri="{FF2B5EF4-FFF2-40B4-BE49-F238E27FC236}">
                <a16:creationId xmlns:a16="http://schemas.microsoft.com/office/drawing/2014/main" id="{FFC97F99-AB88-CFED-CF5D-DC303C4E4D62}"/>
              </a:ext>
            </a:extLst>
          </p:cNvPr>
          <p:cNvSpPr txBox="1"/>
          <p:nvPr/>
        </p:nvSpPr>
        <p:spPr>
          <a:xfrm>
            <a:off x="10012190" y="3601466"/>
            <a:ext cx="1011628" cy="41360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9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Cuerpo">
            <a:extLst>
              <a:ext uri="{FF2B5EF4-FFF2-40B4-BE49-F238E27FC236}">
                <a16:creationId xmlns:a16="http://schemas.microsoft.com/office/drawing/2014/main" id="{A46A3F2C-595A-D0AA-1704-8BDC8D2783A4}"/>
              </a:ext>
            </a:extLst>
          </p:cNvPr>
          <p:cNvSpPr txBox="1"/>
          <p:nvPr/>
        </p:nvSpPr>
        <p:spPr>
          <a:xfrm>
            <a:off x="10865087" y="2403454"/>
            <a:ext cx="1011628" cy="41360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9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Cuerpo">
            <a:extLst>
              <a:ext uri="{FF2B5EF4-FFF2-40B4-BE49-F238E27FC236}">
                <a16:creationId xmlns:a16="http://schemas.microsoft.com/office/drawing/2014/main" id="{7393D38D-20B6-D05A-1290-79340C636239}"/>
              </a:ext>
            </a:extLst>
          </p:cNvPr>
          <p:cNvSpPr txBox="1"/>
          <p:nvPr/>
        </p:nvSpPr>
        <p:spPr>
          <a:xfrm>
            <a:off x="10573253" y="4393709"/>
            <a:ext cx="570368" cy="41360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9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7" name="Cuerpo">
            <a:extLst>
              <a:ext uri="{FF2B5EF4-FFF2-40B4-BE49-F238E27FC236}">
                <a16:creationId xmlns:a16="http://schemas.microsoft.com/office/drawing/2014/main" id="{3653B467-6A06-5C9E-8F36-14770467DF3F}"/>
              </a:ext>
            </a:extLst>
          </p:cNvPr>
          <p:cNvSpPr txBox="1"/>
          <p:nvPr/>
        </p:nvSpPr>
        <p:spPr>
          <a:xfrm>
            <a:off x="9944272" y="4387434"/>
            <a:ext cx="628981" cy="41360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s-ES" sz="19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89BAC2F-CC2C-B2BD-4FEB-97AE7E462059}"/>
              </a:ext>
            </a:extLst>
          </p:cNvPr>
          <p:cNvSpPr/>
          <p:nvPr/>
        </p:nvSpPr>
        <p:spPr>
          <a:xfrm>
            <a:off x="9809710" y="3563463"/>
            <a:ext cx="1416588" cy="4515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593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A0A4-FE91-C973-0F8E-03618947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1D3D1D13-9E96-1FC4-2296-59A05449C9C1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AF8887E4-3A25-11DB-E71D-B6B4532A2153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17AAD522-4874-2902-9B70-A3AD94B0043B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1160FE25-F6B3-EE4D-6159-94F5D8885411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>
                <a:solidFill>
                  <a:srgbClr val="102A43"/>
                </a:solidFill>
              </a:rPr>
              <a:t>Arduino conecta sensores y actuadores</a:t>
            </a:r>
            <a:endParaRPr lang="es-ES" sz="2750"/>
          </a:p>
        </p:txBody>
      </p:sp>
      <p:sp>
        <p:nvSpPr>
          <p:cNvPr id="8" name="Cuerpo">
            <a:extLst>
              <a:ext uri="{FF2B5EF4-FFF2-40B4-BE49-F238E27FC236}">
                <a16:creationId xmlns:a16="http://schemas.microsoft.com/office/drawing/2014/main" id="{C9BB09FF-6FB5-0C37-9CE7-32AB80DD73E7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Entrada: información que llega desde un sensor.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Salida: acción que Arduino activa.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Ejemplo de entrada: LDR, TMP36 o potenciómetro.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Ejemplo de salida: LED, zumbador o servomotor.</a:t>
            </a:r>
            <a:endParaRPr lang="es-ES" sz="1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595F05-6995-235E-7092-E62F7F96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388" y="2081495"/>
            <a:ext cx="4472612" cy="334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73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E8D7-4540-30FE-9875-6212CEC5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90384EF7-9E84-BF4E-DB93-F3E527D14482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55CF5ED7-1D48-476C-4304-71B482EFEC09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1332AD6D-45EA-208E-AB56-89E4C4DDE991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3AB9823A-E0A4-B48C-D8C4-D6F8B3BFDDA7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Arduino IDE: escribir y cargar programas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7011F34F-53D6-940B-7FC8-1D2BCF30BEE2}"/>
              </a:ext>
            </a:extLst>
          </p:cNvPr>
          <p:cNvSpPr txBox="1"/>
          <p:nvPr/>
        </p:nvSpPr>
        <p:spPr>
          <a:xfrm>
            <a:off x="900000" y="1650000"/>
            <a:ext cx="7057996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El IDE es el programa usado para escribir código Arduino.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Permite verificar si el código tiene errores.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Permite cargar el programa en la placa mediante USB.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La práctica se ejecuta en </a:t>
            </a:r>
            <a:r>
              <a:rPr lang="es-ES" sz="1900" dirty="0" err="1">
                <a:solidFill>
                  <a:srgbClr val="243B53"/>
                </a:solidFill>
              </a:rPr>
              <a:t>Tinkercad</a:t>
            </a:r>
            <a:r>
              <a:rPr lang="es-ES" sz="1900" dirty="0">
                <a:solidFill>
                  <a:srgbClr val="243B53"/>
                </a:solidFill>
              </a:rPr>
              <a:t> Circuits, pero para programar una placa real necesitamos Arduino IDE.</a:t>
            </a:r>
            <a:endParaRPr lang="es-ES" sz="1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B839C31-BD40-8B6E-5D81-1E16DAD0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01" y="3665261"/>
            <a:ext cx="5364228" cy="24057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54DF28D-121C-92EE-D180-F8A5230C6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598" y="1364922"/>
            <a:ext cx="3111203" cy="470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3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AB84-B9E1-B7F6-9AE0-80739406C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2715B0EF-D7CF-AF4D-19ED-FEC26CDAFE36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EA4FCE83-6D8B-DBE1-2979-922BE600F40D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CE09365B-19A2-DC8C-DBCB-21846F9C3EE1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5F0800E9-3349-983F-8E1F-BCDCA26355C0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Un programa Arduino se llama sketch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74595BA3-53C8-FFA2-CE1B-5A86B13542B1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 err="1">
                <a:solidFill>
                  <a:srgbClr val="243B53"/>
                </a:solidFill>
              </a:rPr>
              <a:t>setup</a:t>
            </a:r>
            <a:r>
              <a:rPr lang="es-ES" sz="1900" dirty="0">
                <a:solidFill>
                  <a:srgbClr val="243B53"/>
                </a:solidFill>
              </a:rPr>
              <a:t>(): se ejecuta una vez al iniciar.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 err="1">
                <a:solidFill>
                  <a:srgbClr val="243B53"/>
                </a:solidFill>
              </a:rPr>
              <a:t>loop</a:t>
            </a:r>
            <a:r>
              <a:rPr lang="es-ES" sz="1900" dirty="0">
                <a:solidFill>
                  <a:srgbClr val="243B53"/>
                </a:solidFill>
              </a:rPr>
              <a:t>(): se repite continuamente.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 err="1">
                <a:solidFill>
                  <a:srgbClr val="243B53"/>
                </a:solidFill>
              </a:rPr>
              <a:t>pinMode</a:t>
            </a:r>
            <a:r>
              <a:rPr lang="es-ES" sz="1900" dirty="0">
                <a:solidFill>
                  <a:srgbClr val="243B53"/>
                </a:solidFill>
              </a:rPr>
              <a:t>(): configura un pin como entrada o salida.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 err="1">
                <a:solidFill>
                  <a:srgbClr val="243B53"/>
                </a:solidFill>
              </a:rPr>
              <a:t>digitalWrite</a:t>
            </a:r>
            <a:r>
              <a:rPr lang="es-ES" sz="1900" dirty="0">
                <a:solidFill>
                  <a:srgbClr val="243B53"/>
                </a:solidFill>
              </a:rPr>
              <a:t>(): activa o desactiva una salida digital.</a:t>
            </a:r>
            <a:endParaRPr lang="es-ES" sz="1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C5774B-75F3-BCEC-722D-D1C7CC059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638" y="1608000"/>
            <a:ext cx="4948301" cy="452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5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1EF-FFE9-FBED-992D-B7D8AB56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F6C51662-6245-7882-A77C-2132660A6AC2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4471862B-EF3F-7FDE-F8FF-E207B2E10122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EC6D3986-77F4-980F-5794-4A97206FCA01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501F33E6-3B60-70C1-318C-0F9CE5817591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>
                <a:solidFill>
                  <a:srgbClr val="102A43"/>
                </a:solidFill>
              </a:rPr>
              <a:t>El pin del cable debe coincidir con el código</a:t>
            </a:r>
            <a:endParaRPr lang="es-ES" sz="275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D501462E-A83D-E252-AA28-159E7ED8B0B3}"/>
              </a:ext>
            </a:extLst>
          </p:cNvPr>
          <p:cNvSpPr txBox="1"/>
          <p:nvPr/>
        </p:nvSpPr>
        <p:spPr>
          <a:xfrm>
            <a:off x="900000" y="1650000"/>
            <a:ext cx="56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el LED está conectado al pin 13, el código debe usar el pin 13.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Si se cambia el cable al pin 8, también se cambia el programa.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Muchos errores aparecen porque circuito y código no coinciden.</a:t>
            </a:r>
            <a:endParaRPr lang="es-ES" sz="1900" dirty="0"/>
          </a:p>
        </p:txBody>
      </p:sp>
      <p:pic>
        <p:nvPicPr>
          <p:cNvPr id="7" name="Imagen 8">
            <a:extLst>
              <a:ext uri="{FF2B5EF4-FFF2-40B4-BE49-F238E27FC236}">
                <a16:creationId xmlns:a16="http://schemas.microsoft.com/office/drawing/2014/main" id="{8674445E-1C99-F267-1964-C5FE411B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00" y="1844379"/>
            <a:ext cx="4300000" cy="3000000"/>
          </a:xfrm>
          <a:prstGeom prst="rect">
            <a:avLst/>
          </a:prstGeom>
          <a:ln>
            <a:solidFill>
              <a:srgbClr val="D9E2EC"/>
            </a:solidFill>
          </a:ln>
        </p:spPr>
      </p:pic>
    </p:spTree>
    <p:extLst>
      <p:ext uri="{BB962C8B-B14F-4D97-AF65-F5344CB8AC3E}">
        <p14:creationId xmlns:p14="http://schemas.microsoft.com/office/powerpoint/2010/main" val="97050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5CD4-6A8A-3564-0FE6-EF373C76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do 3">
            <a:extLst>
              <a:ext uri="{FF2B5EF4-FFF2-40B4-BE49-F238E27FC236}">
                <a16:creationId xmlns:a16="http://schemas.microsoft.com/office/drawing/2014/main" id="{BF708F84-203D-B294-49B5-52232FEAAE31}"/>
              </a:ext>
            </a:extLst>
          </p:cNvPr>
          <p:cNvSpPr/>
          <p:nvPr/>
        </p:nvSpPr>
        <p:spPr>
          <a:xfrm>
            <a:off x="0" y="0"/>
            <a:ext cx="12192000" cy="62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" name="Cabecera">
            <a:extLst>
              <a:ext uri="{FF2B5EF4-FFF2-40B4-BE49-F238E27FC236}">
                <a16:creationId xmlns:a16="http://schemas.microsoft.com/office/drawing/2014/main" id="{7AC4ADE6-7BD6-DE6D-879C-23A80398EB4A}"/>
              </a:ext>
            </a:extLst>
          </p:cNvPr>
          <p:cNvSpPr txBox="1"/>
          <p:nvPr/>
        </p:nvSpPr>
        <p:spPr>
          <a:xfrm>
            <a:off x="550000" y="13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1350" b="1" dirty="0">
                <a:solidFill>
                  <a:srgbClr val="FFFFFF"/>
                </a:solidFill>
              </a:rPr>
              <a:t>Tecnología e Ingeniería I · 1º Bachillerato</a:t>
            </a:r>
            <a:endParaRPr lang="es-ES" sz="1350" dirty="0"/>
          </a:p>
        </p:txBody>
      </p:sp>
      <p:sp>
        <p:nvSpPr>
          <p:cNvPr id="2" name="Fondo 4">
            <a:extLst>
              <a:ext uri="{FF2B5EF4-FFF2-40B4-BE49-F238E27FC236}">
                <a16:creationId xmlns:a16="http://schemas.microsoft.com/office/drawing/2014/main" id="{01224D67-2883-3AC1-2E40-5CAE98C9E049}"/>
              </a:ext>
            </a:extLst>
          </p:cNvPr>
          <p:cNvSpPr/>
          <p:nvPr/>
        </p:nvSpPr>
        <p:spPr>
          <a:xfrm>
            <a:off x="580000" y="980000"/>
            <a:ext cx="120000" cy="43000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E7199E41-63FA-653E-A723-C342A3596043}"/>
              </a:ext>
            </a:extLst>
          </p:cNvPr>
          <p:cNvSpPr txBox="1"/>
          <p:nvPr/>
        </p:nvSpPr>
        <p:spPr>
          <a:xfrm>
            <a:off x="850000" y="850000"/>
            <a:ext cx="95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2750" b="1" dirty="0">
                <a:solidFill>
                  <a:srgbClr val="102A43"/>
                </a:solidFill>
              </a:rPr>
              <a:t>Qué debe quedar claro antes de practicar</a:t>
            </a:r>
            <a:endParaRPr lang="es-ES" sz="2750" dirty="0"/>
          </a:p>
        </p:txBody>
      </p:sp>
      <p:sp>
        <p:nvSpPr>
          <p:cNvPr id="6" name="Cuerpo">
            <a:extLst>
              <a:ext uri="{FF2B5EF4-FFF2-40B4-BE49-F238E27FC236}">
                <a16:creationId xmlns:a16="http://schemas.microsoft.com/office/drawing/2014/main" id="{466382E3-9491-FE13-3048-BC98415E21AE}"/>
              </a:ext>
            </a:extLst>
          </p:cNvPr>
          <p:cNvSpPr txBox="1"/>
          <p:nvPr/>
        </p:nvSpPr>
        <p:spPr>
          <a:xfrm>
            <a:off x="900000" y="1650000"/>
            <a:ext cx="97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Arduino recibe información por entradas.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Arduino activa respuestas por salidas.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>
                <a:solidFill>
                  <a:srgbClr val="243B53"/>
                </a:solidFill>
              </a:rPr>
              <a:t>El software define qué hace la placa.</a:t>
            </a:r>
            <a:endParaRPr lang="es-E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 err="1">
                <a:solidFill>
                  <a:srgbClr val="243B53"/>
                </a:solidFill>
              </a:rPr>
              <a:t>Tinkercad</a:t>
            </a:r>
            <a:r>
              <a:rPr lang="es-ES" sz="1900" dirty="0">
                <a:solidFill>
                  <a:srgbClr val="243B53"/>
                </a:solidFill>
              </a:rPr>
              <a:t> permitirá probar el primer programa sin riesgo.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60781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398</Words>
  <Application>Microsoft Office PowerPoint</Application>
  <PresentationFormat>Panorámica</PresentationFormat>
  <Paragraphs>50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JIMENEZ MUNOZ</dc:creator>
  <cp:lastModifiedBy>MARTA JIMENEZ MUNOZ</cp:lastModifiedBy>
  <cp:revision>4</cp:revision>
  <dcterms:created xsi:type="dcterms:W3CDTF">2026-06-14T09:02:11Z</dcterms:created>
  <dcterms:modified xsi:type="dcterms:W3CDTF">2026-06-14T20:01:48Z</dcterms:modified>
</cp:coreProperties>
</file>