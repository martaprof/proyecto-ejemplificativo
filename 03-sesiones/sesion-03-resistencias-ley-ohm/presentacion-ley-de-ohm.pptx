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02556-9C16-06EB-8C59-A149D4076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BEAE11-3F7E-D9E1-7558-1AD288AA9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7D6FC8-1447-CF44-49AC-1B7FE402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2CD37E-63E7-0A76-8663-5F6D139A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C731DB-0F59-C7C7-5056-490F0948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01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6F4CE-AAB7-2178-99A5-3C4A9EDD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D98D10-BFB0-724E-650F-8F735F18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E9C708-A90F-F892-A903-4128E6A2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C5A18-9C21-5BD1-712D-CE519ACB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873F3A-479C-6370-8B6F-269F6690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40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28742-01BA-E663-8BCE-BBBB7EBB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6B9F55-3E1B-5A4E-40B2-00F525364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990178-7C6F-3D22-40F0-6628778C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52975-97EA-94EF-0959-A82D9612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F61424-83BA-C6EA-1A05-E186A6BD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8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3EE66-E29A-6DF2-128C-C8D8897E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4D1B0-B10A-BF4A-5CD8-5B39EC4A8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DCF055-BAD1-4103-0314-5DC149723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4A672C-4E8D-E4FE-8831-45F73E92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131207-8353-6899-F08C-C8C49217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3B4FCC-7959-97F9-1326-98B95224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52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F9CFF-31EE-E357-7E3E-F1839AB2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53130-9129-F30B-A7AF-C2C4258D6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586A12-AC74-759D-C681-755BC89E5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7EDE03-C8BC-D54D-F8E3-FB7AD3F48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3F4350-BF39-AD0F-4A00-BE0FF1BBB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8C4B63-9DE7-3508-3C7E-447E72B4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976142-9E37-449E-81BF-81815A42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659739-E058-9F29-52A9-D8577AAC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54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553C3-7737-3DD5-8B6A-3F8E024F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CB50CC-6B55-FF73-AE17-E267DDD2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8C87EC-4D69-D113-A9FA-7D5C0A01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8C6975-2D77-85EF-723C-6D0D647F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737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1819C2-2E0C-0984-70EE-21DFABCB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F926DC-2DAB-0CA6-1907-299FF5AD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B1D5BF-31FC-18CD-6EB0-202611F0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71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B933B-F7A2-B71D-F4CC-C5CDC974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3FD597-0C5A-7131-9F49-C06359CFD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A2733D-993C-3C05-D0D5-F006B8156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FDC8B9-827B-E97F-C3F3-A05F2024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D9FB31-55E7-B983-EE33-240CF510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FABCBD-E2BE-7C85-5848-8E58C8D6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85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7E0DE-A4BB-57EC-0018-25489581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440953-1476-E509-7FDB-198B26D3BC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E60829-F6C9-6FDE-D85A-9B29C36B4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7A1FB5-F055-BF24-494C-07DE8B56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18370B-9E1F-67B5-6F63-94351613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E68C39-0194-5524-0801-5BCE5A2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9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F3422-B31F-993B-C829-FA3937CE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106FCF-CC76-613E-4CDE-CADDE08A0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8AB051-79F1-2870-A4BF-7B107B0B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1AA442-40F4-C7A1-1256-94182949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12D08-35B8-8D54-87EF-20597B56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414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DA537A-F485-BF11-524A-4FF80D885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584976-408E-3BCD-1EE8-FD9B50818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7FFBF1-9FDA-9D3C-7FE6-76D3E6E5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96967A-D97D-4617-0E90-D4B312E4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24959A-0214-71F3-4DE2-0B0C96FE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12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67D33B-5CCE-DE33-7F34-44A85967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178DC5-020E-3DAA-0AC6-05B8C9427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75E025-F192-117F-2AC7-27F228B1E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B741B7-9B2E-70E2-A12A-8BBBF237F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E4CCAE-AF5A-BB53-A91F-9183ECEFD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9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het.colorado.edu/sims/html/ohms-law/latest/ohms-law_all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het.colorado.edu/sims/html/ohms-law/latest/ohms-law_all.html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64EF0FFB-00BF-814E-D417-5422F07E9B31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A66CBEF6-B8C8-2826-508C-51CD84E66EC7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6" name="Titulo">
            <a:extLst>
              <a:ext uri="{FF2B5EF4-FFF2-40B4-BE49-F238E27FC236}">
                <a16:creationId xmlns:a16="http://schemas.microsoft.com/office/drawing/2014/main" id="{290461D8-459B-6BC0-F0E2-0CE4A6DCE764}"/>
              </a:ext>
            </a:extLst>
          </p:cNvPr>
          <p:cNvSpPr txBox="1"/>
          <p:nvPr/>
        </p:nvSpPr>
        <p:spPr>
          <a:xfrm>
            <a:off x="650000" y="1200000"/>
            <a:ext cx="6000000" cy="1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500" b="1" dirty="0">
                <a:solidFill>
                  <a:srgbClr val="102A43"/>
                </a:solidFill>
              </a:rPr>
              <a:t>Ley de Ohm: voltaje, intensidad y resistencia</a:t>
            </a:r>
            <a:endParaRPr lang="es-ES" sz="3500" dirty="0"/>
          </a:p>
        </p:txBody>
      </p:sp>
      <p:sp>
        <p:nvSpPr>
          <p:cNvPr id="7" name="Subtitulo">
            <a:extLst>
              <a:ext uri="{FF2B5EF4-FFF2-40B4-BE49-F238E27FC236}">
                <a16:creationId xmlns:a16="http://schemas.microsoft.com/office/drawing/2014/main" id="{2A800BFF-537B-F2AD-CE15-69994A54A177}"/>
              </a:ext>
            </a:extLst>
          </p:cNvPr>
          <p:cNvSpPr txBox="1"/>
          <p:nvPr/>
        </p:nvSpPr>
        <p:spPr>
          <a:xfrm>
            <a:off x="680000" y="2600000"/>
            <a:ext cx="56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100" dirty="0">
                <a:solidFill>
                  <a:srgbClr val="334E68"/>
                </a:solidFill>
              </a:rPr>
              <a:t>Presentación breve para introducir el concepto teórico antes de calcular resistencias de LED.</a:t>
            </a:r>
            <a:endParaRPr lang="es-ES" sz="2100" dirty="0"/>
          </a:p>
        </p:txBody>
      </p:sp>
      <p:pic>
        <p:nvPicPr>
          <p:cNvPr id="8" name="Imagen 8">
            <a:extLst>
              <a:ext uri="{FF2B5EF4-FFF2-40B4-BE49-F238E27FC236}">
                <a16:creationId xmlns:a16="http://schemas.microsoft.com/office/drawing/2014/main" id="{9E60C693-F97C-387D-95D9-9BCD69D9A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000" y="1200000"/>
            <a:ext cx="4300000" cy="3000000"/>
          </a:xfrm>
          <a:prstGeom prst="rect">
            <a:avLst/>
          </a:prstGeom>
          <a:ln>
            <a:solidFill>
              <a:srgbClr val="D9E2EC"/>
            </a:solidFill>
          </a:ln>
        </p:spPr>
      </p:pic>
    </p:spTree>
    <p:extLst>
      <p:ext uri="{BB962C8B-B14F-4D97-AF65-F5344CB8AC3E}">
        <p14:creationId xmlns:p14="http://schemas.microsoft.com/office/powerpoint/2010/main" val="181032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3194-FB9F-70D6-17D8-965C3EC2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9327537E-A8F1-ED0C-F66F-484E4B0C0F3D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3CC968EB-9947-88CB-1E79-1A61F091D38D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B6A601D6-3F9D-B636-4889-A5943D7543BF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738C9585-B1C0-369D-49C8-F2CE16808DB1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Tres magnitudes que se relacionan</a:t>
            </a:r>
            <a:endParaRPr lang="es-ES" sz="2750" dirty="0"/>
          </a:p>
        </p:txBody>
      </p:sp>
      <p:sp>
        <p:nvSpPr>
          <p:cNvPr id="9" name="Cuerpo">
            <a:extLst>
              <a:ext uri="{FF2B5EF4-FFF2-40B4-BE49-F238E27FC236}">
                <a16:creationId xmlns:a16="http://schemas.microsoft.com/office/drawing/2014/main" id="{F4EBE1B3-0AE2-8825-88DB-8577D4BA16F3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Voltaje (V): diferencia de energía entre dos puntos.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Intensidad (I): corriente que circula por el circuito.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Resistencia (R): oposición al paso de la corriente.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La ley de Ohm conecta las tres: V = I · R.</a:t>
            </a:r>
            <a:endParaRPr lang="es-ES" sz="1900" dirty="0"/>
          </a:p>
        </p:txBody>
      </p:sp>
      <p:pic>
        <p:nvPicPr>
          <p:cNvPr id="11" name="Imagen 10">
            <a:hlinkClick r:id="rId2"/>
            <a:extLst>
              <a:ext uri="{FF2B5EF4-FFF2-40B4-BE49-F238E27FC236}">
                <a16:creationId xmlns:a16="http://schemas.microsoft.com/office/drawing/2014/main" id="{AE90AECA-A527-5018-0D64-BCA190EE6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965" y="1077069"/>
            <a:ext cx="2294070" cy="1361280"/>
          </a:xfrm>
          <a:prstGeom prst="rect">
            <a:avLst/>
          </a:prstGeom>
        </p:spPr>
      </p:pic>
      <p:sp>
        <p:nvSpPr>
          <p:cNvPr id="12" name="Cuerpo">
            <a:extLst>
              <a:ext uri="{FF2B5EF4-FFF2-40B4-BE49-F238E27FC236}">
                <a16:creationId xmlns:a16="http://schemas.microsoft.com/office/drawing/2014/main" id="{56569DB2-EB4C-2AA9-B938-3B15249B0E79}"/>
              </a:ext>
            </a:extLst>
          </p:cNvPr>
          <p:cNvSpPr txBox="1"/>
          <p:nvPr/>
        </p:nvSpPr>
        <p:spPr>
          <a:xfrm>
            <a:off x="9283762" y="800000"/>
            <a:ext cx="2432476" cy="227069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s-ES" sz="1200" dirty="0">
                <a:hlinkClick r:id="rId2"/>
              </a:rPr>
              <a:t>Enlace simulación Ley de Ohm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991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5318-A195-F78F-5C23-C04145AC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F0A96D18-762D-C569-5114-ECEA25BCF837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59D08CC3-F6C6-F15D-E6DE-F7744C08C932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AA5B5EC7-DD9F-A60E-ADC7-95D74EC1668C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" name="Titulo">
            <a:extLst>
              <a:ext uri="{FF2B5EF4-FFF2-40B4-BE49-F238E27FC236}">
                <a16:creationId xmlns:a16="http://schemas.microsoft.com/office/drawing/2014/main" id="{9AE59CBF-310A-8B62-2550-DDC5A300081E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Voltaje: la causa que impulsa la corriente</a:t>
            </a:r>
            <a:endParaRPr lang="es-ES" sz="2750" dirty="0"/>
          </a:p>
        </p:txBody>
      </p:sp>
      <p:sp>
        <p:nvSpPr>
          <p:cNvPr id="7" name="Cuerpo">
            <a:extLst>
              <a:ext uri="{FF2B5EF4-FFF2-40B4-BE49-F238E27FC236}">
                <a16:creationId xmlns:a16="http://schemas.microsoft.com/office/drawing/2014/main" id="{38E4E420-EE2E-267A-E173-7C6AEA47E483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Se mide en voltios (V).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En el simulador PhET se modifica con el control </a:t>
            </a:r>
            <a:r>
              <a:rPr lang="es-ES" sz="1900" dirty="0" err="1">
                <a:solidFill>
                  <a:srgbClr val="243B53"/>
                </a:solidFill>
              </a:rPr>
              <a:t>Voltage</a:t>
            </a:r>
            <a:r>
              <a:rPr lang="es-ES" sz="1900" dirty="0">
                <a:solidFill>
                  <a:srgbClr val="243B53"/>
                </a:solidFill>
              </a:rPr>
              <a:t>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Si la resistencia se mantiene fija, al aumentar el voltaje aumenta la intensidad.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Pregunta al alumnado: ¿qué pasará con I si duplico V?</a:t>
            </a:r>
            <a:endParaRPr lang="es-ES" sz="1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92CBCCC-9F4D-06B4-C6D9-D9705922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1" y="3519201"/>
            <a:ext cx="1280606" cy="191079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388869F-11A5-9383-5039-D9EA1289DF30}"/>
              </a:ext>
            </a:extLst>
          </p:cNvPr>
          <p:cNvSpPr/>
          <p:nvPr/>
        </p:nvSpPr>
        <p:spPr>
          <a:xfrm>
            <a:off x="1466660" y="3666653"/>
            <a:ext cx="398351" cy="1646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C39BAC9-824B-4BE8-7FCC-D2A1B1A15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153" y="3429000"/>
            <a:ext cx="3401443" cy="201283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FE33028-8FCF-326B-79EE-63E819EDD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256" y="3429000"/>
            <a:ext cx="3401443" cy="206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4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E031-5008-AB2B-D4AF-6A7A034E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D554CCB0-355B-24E3-057B-98CEEACC5F77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636A5C53-A338-D5FA-7239-571400789EF9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A42F3454-449B-0419-40F2-EDC165DADCD2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BD9B2F40-DEE6-A595-4551-D04EA547BD1D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Intensidad: la corriente que pasa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505D9DBA-5ABC-2716-A2BC-0923BA0F36D9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Se mide en amperios (A), aunque en electrónica de aula se suelen usar miliamperios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1 mA = 0,001 A 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No se elige libremente: depende del voltaje y de la resistencia.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En PhET aparece como Current.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Una intensidad excesiva puede dañar componentes.</a:t>
            </a:r>
            <a:endParaRPr lang="es-ES" sz="1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63082D-DE41-3DEC-61EF-878EB127C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26" y="3349058"/>
            <a:ext cx="6727347" cy="29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5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59E0-71B9-410D-462D-E4766083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B7064AFF-BF95-74CF-E9E1-912C58F73D78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F647F108-6CC8-6C06-9A65-4587F7F89C33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1.º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B1649E70-903A-E7EE-0CC4-C3509361B853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" name="Titulo">
            <a:extLst>
              <a:ext uri="{FF2B5EF4-FFF2-40B4-BE49-F238E27FC236}">
                <a16:creationId xmlns:a16="http://schemas.microsoft.com/office/drawing/2014/main" id="{C88B8B24-0B73-4AC5-A96E-7D9658E5CA8D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Resistencia: el elemento que limita</a:t>
            </a:r>
            <a:endParaRPr lang="es-ES" sz="2750" dirty="0"/>
          </a:p>
        </p:txBody>
      </p:sp>
      <p:sp>
        <p:nvSpPr>
          <p:cNvPr id="7" name="Cuerpo">
            <a:extLst>
              <a:ext uri="{FF2B5EF4-FFF2-40B4-BE49-F238E27FC236}">
                <a16:creationId xmlns:a16="http://schemas.microsoft.com/office/drawing/2014/main" id="{CDDED659-DF71-1C9F-C0C8-D3673FD6C0D3}"/>
              </a:ext>
            </a:extLst>
          </p:cNvPr>
          <p:cNvSpPr txBox="1"/>
          <p:nvPr/>
        </p:nvSpPr>
        <p:spPr>
          <a:xfrm>
            <a:off x="900000" y="1650000"/>
            <a:ext cx="945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Se mide en ohmios (Ω).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En PhET se modifica con el control </a:t>
            </a:r>
            <a:r>
              <a:rPr lang="es-ES" sz="1900" dirty="0" err="1">
                <a:solidFill>
                  <a:srgbClr val="243B53"/>
                </a:solidFill>
              </a:rPr>
              <a:t>Resistance</a:t>
            </a:r>
            <a:r>
              <a:rPr lang="es-ES" sz="1900" dirty="0">
                <a:solidFill>
                  <a:srgbClr val="243B53"/>
                </a:solidFill>
              </a:rPr>
              <a:t>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Si el voltaje se mantiene fijo, al aumentar la resistencia disminuye la intensidad.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Esto explica por qué una resistencia protege un LED.</a:t>
            </a:r>
            <a:endParaRPr lang="es-ES" sz="1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D0B1F32-B377-742A-9BF4-1AFB2068F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88" y="3633318"/>
            <a:ext cx="1301484" cy="18510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5C7B88E4-96C3-5EFD-5B69-755270649A38}"/>
              </a:ext>
            </a:extLst>
          </p:cNvPr>
          <p:cNvSpPr/>
          <p:nvPr/>
        </p:nvSpPr>
        <p:spPr>
          <a:xfrm>
            <a:off x="2462542" y="3759222"/>
            <a:ext cx="398351" cy="1646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DA05C84-01F7-11AC-3434-CF1AFDF5D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633" y="3472752"/>
            <a:ext cx="3808820" cy="221924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8371665-06D2-B04B-E6A0-DB0C6F74B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897" y="3472752"/>
            <a:ext cx="3469103" cy="224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CB40-1AC5-6C3E-C0E9-1A347925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1362E7FF-C1BE-7DBC-6D7E-65C8A5726D71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36B87189-740A-0E49-7CC5-3063011A4603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1.º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A8F2BF7A-D567-B972-702A-4B0D8ED310F9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46F95E3C-B3DD-A101-C552-EF7ADDCA89FF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>
                <a:solidFill>
                  <a:srgbClr val="102A43"/>
                </a:solidFill>
              </a:rPr>
              <a:t>La fórmula se lee como una relación</a:t>
            </a:r>
            <a:endParaRPr lang="es-ES" sz="275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BE49AB88-9DA5-3F72-0F70-2F0803578019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V = I · R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I = V / R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R = V / I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No es solo despejar: permite predecir qué cambia cuando modificamos una magnitud.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86279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06B8-5CEA-8F35-7FC5-E5FBBCE3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0C9D5476-14E3-60F7-80EA-DF8AE8B859A6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C77A735C-0893-0548-FF52-4114C880880E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1.º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AA13EABD-E92D-B2A6-B3FA-2935FD843D71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789C7D3B-93C7-D9EF-22A7-5B58017879E4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Secuencia de demostración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8DDDB919-5021-B446-CF0D-CE22A379FABF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900" dirty="0">
                <a:solidFill>
                  <a:srgbClr val="243B53"/>
                </a:solidFill>
              </a:rPr>
              <a:t>Abrir el </a:t>
            </a:r>
            <a:r>
              <a:rPr lang="es-ES" sz="1900" dirty="0">
                <a:solidFill>
                  <a:srgbClr val="243B53"/>
                </a:solidFill>
                <a:hlinkClick r:id="rId2"/>
              </a:rPr>
              <a:t>simulador</a:t>
            </a:r>
            <a:endParaRPr lang="es-ES" sz="1900" dirty="0"/>
          </a:p>
          <a:p>
            <a:r>
              <a:rPr lang="es-ES" sz="1900" dirty="0">
                <a:solidFill>
                  <a:srgbClr val="243B53"/>
                </a:solidFill>
              </a:rPr>
              <a:t>Paso 1: fijar R y aumentar V. Observar cómo sube I.</a:t>
            </a:r>
            <a:endParaRPr lang="es-ES" sz="1900" dirty="0"/>
          </a:p>
          <a:p>
            <a:r>
              <a:rPr lang="es-ES" sz="1900" dirty="0">
                <a:solidFill>
                  <a:srgbClr val="243B53"/>
                </a:solidFill>
              </a:rPr>
              <a:t>Paso 2: fijar V y aumentar R. Observar cómo baja I.</a:t>
            </a:r>
            <a:endParaRPr lang="es-ES" sz="1900" dirty="0"/>
          </a:p>
          <a:p>
            <a:r>
              <a:rPr lang="es-ES" sz="1900" dirty="0">
                <a:solidFill>
                  <a:srgbClr val="243B53"/>
                </a:solidFill>
              </a:rPr>
              <a:t>Paso 3: pedir una predicción antes de mover cada control.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112073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1695-9D69-F2BA-93BC-CD47260D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18C73021-5B05-5967-12DF-F83738B72858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3C666F5C-1C2F-18B3-0494-17625F2A86D5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1.º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5C540713-D93D-02EB-2AD1-0EE8D7BEAD70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82761485-C188-FAA5-A8AF-452C96D9B85C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Predicción antes de calcular LED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4B7159C0-53FB-AF33-314A-47712AA47597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Si V = 9 V y R = 3 Ω, entonces I = 3 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Si se mantiene V = 9 V y R sube a 6 Ω, entonces I = 1,5 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La resistencia reduce la corriente.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Esta idea se aplicará después al LED del proyecto.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2800889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439</Words>
  <Application>Microsoft Office PowerPoint</Application>
  <PresentationFormat>Panorámica</PresentationFormat>
  <Paragraphs>47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JIMENEZ MUNOZ</dc:creator>
  <cp:lastModifiedBy>MARTA JIMENEZ MUNOZ</cp:lastModifiedBy>
  <cp:revision>1</cp:revision>
  <dcterms:created xsi:type="dcterms:W3CDTF">2026-06-14T09:02:11Z</dcterms:created>
  <dcterms:modified xsi:type="dcterms:W3CDTF">2026-06-14T11:21:28Z</dcterms:modified>
</cp:coreProperties>
</file>